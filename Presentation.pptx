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AC49D-3891-8370-7CE0-0CB65FDCE3CC}" v="863" dt="2025-11-07T08:15:50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D93313-0F49-410E-864E-35A4C9165388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8008176-8A7A-4084-B2EA-01409244A17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4625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74574A-29F1-45BA-AE84-05DE2678836D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3DBCFC-18B9-487A-A44B-3C9DDEA92BD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2436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D0C0D-11AB-4D85-AC4D-43D82FF53AAB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608DB8-4C7B-4264-AEE3-E3DE4D37C36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8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20FA52-C9AE-4229-BDD9-1A9ABC291BE3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CDE497-1FB6-403D-A51C-4FA9A8AA171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48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860BD2-2118-44BE-B44A-20932EF69E59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25C2D3-FE76-477F-84FC-5B003373444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25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E47334-3453-4552-A751-282AC9D7FA00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E98C00-2662-46E5-B472-79217930F9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846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38F1D-C708-41BE-8B94-33B8EA450A6E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FB8CB0-7082-43E0-9E17-07B58FF4531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25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9BE4C8-2A42-4383-8B7E-5221DECF781D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C5DF0B-3C7C-466E-9B6C-D9604B4449A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7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F85773-A2D2-4F83-B8A1-702E98C5589F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7D4103-64E1-499F-AC4A-AC0B0C1797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77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BDEB6-DB89-4D31-AD02-7C84DF7960FF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8EC413-B178-4397-8CFE-62D180DFBF7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91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8DC981-DEFA-4E14-A472-7177FA1D4A78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462FF6-B773-4721-A174-ED3E2E4BA61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9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7EA9B73A-08B0-4FF8-BDE6-945DF536EB3F}" type="datetime1">
              <a:rPr lang="en-GB"/>
              <a:pPr lvl="0"/>
              <a:t>06/11/2025</a:t>
            </a:fld>
            <a:endParaRPr lang="en-GB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B8321D06-5B92-4BCA-A2B0-C9D2087B8E4C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GB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gradFill>
            <a:gsLst>
              <a:gs pos="0">
                <a:srgbClr val="156082"/>
              </a:gs>
              <a:gs pos="100000">
                <a:srgbClr val="E97132"/>
              </a:gs>
            </a:gsLst>
            <a:lin ang="81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/>
          <p:cNvSpPr txBox="1">
            <a:spLocks noGrp="1"/>
          </p:cNvSpPr>
          <p:nvPr>
            <p:ph type="ctrTitle"/>
          </p:nvPr>
        </p:nvSpPr>
        <p:spPr>
          <a:xfrm>
            <a:off x="628516" y="390158"/>
            <a:ext cx="10927425" cy="2275916"/>
          </a:xfrm>
        </p:spPr>
        <p:txBody>
          <a:bodyPr anchor="t" anchorCtr="0">
            <a:normAutofit fontScale="90000"/>
          </a:bodyPr>
          <a:lstStyle/>
          <a:p>
            <a:r>
              <a:rPr lang="en-GB" sz="8000" dirty="0">
                <a:solidFill>
                  <a:srgbClr val="FFFFFF"/>
                </a:solidFill>
              </a:rPr>
              <a:t>Natural Language Processing</a:t>
            </a:r>
            <a:br>
              <a:rPr lang="en-GB" sz="8000" dirty="0">
                <a:solidFill>
                  <a:srgbClr val="FFFFFF"/>
                </a:solidFill>
              </a:rPr>
            </a:br>
            <a:br>
              <a:rPr lang="en-GB" sz="8000" dirty="0"/>
            </a:br>
            <a:r>
              <a:rPr lang="en-GB" sz="8000" dirty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xfrm>
            <a:off x="907717" y="5714788"/>
            <a:ext cx="8578699" cy="1062715"/>
          </a:xfrm>
        </p:spPr>
        <p:txBody>
          <a:bodyPr anchorCtr="0"/>
          <a:lstStyle/>
          <a:p>
            <a:pPr lvl="0" algn="l"/>
            <a:r>
              <a:rPr lang="en-GB" sz="1200" dirty="0">
                <a:solidFill>
                  <a:schemeClr val="bg1"/>
                </a:solidFill>
                <a:latin typeface="Consolas"/>
              </a:rPr>
              <a:t> </a:t>
            </a:r>
            <a:r>
              <a:rPr lang="en-GB" sz="1600" dirty="0">
                <a:solidFill>
                  <a:schemeClr val="bg1"/>
                </a:solidFill>
                <a:latin typeface="Consolas"/>
              </a:rPr>
              <a:t>J. R. R. Tolkien project 1</a:t>
            </a:r>
            <a:endParaRPr lang="en-US" sz="1600">
              <a:solidFill>
                <a:schemeClr val="bg1"/>
              </a:solidFill>
            </a:endParaRPr>
          </a:p>
          <a:p>
            <a:pPr lvl="0" algn="l"/>
            <a:r>
              <a:rPr lang="en-GB" sz="1600" dirty="0">
                <a:solidFill>
                  <a:schemeClr val="bg1"/>
                </a:solidFill>
                <a:latin typeface="Consolas"/>
              </a:rPr>
              <a:t> Group members: Adilya Korkmaz , Vladyslav Stupak, Daniil Zykov</a:t>
            </a:r>
            <a:endParaRPr lang="en-GB" sz="1600">
              <a:solidFill>
                <a:schemeClr val="bg1"/>
              </a:solidFill>
            </a:endParaRPr>
          </a:p>
          <a:p>
            <a:pPr lvl="0" algn="l"/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5" name="Graphic 13"/>
          <p:cNvSpPr>
            <a:spLocks noMove="1" noResize="1"/>
          </p:cNvSpPr>
          <p:nvPr/>
        </p:nvSpPr>
        <p:spPr>
          <a:xfrm>
            <a:off x="3474363" y="583341"/>
            <a:ext cx="139034" cy="13903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39039"/>
              <a:gd name="f7" fmla="val 129602"/>
              <a:gd name="f8" fmla="val 60082"/>
              <a:gd name="f9" fmla="val 78957"/>
              <a:gd name="f10" fmla="val 9437"/>
              <a:gd name="f11" fmla="val 4225"/>
              <a:gd name="f12" fmla="val 74731"/>
              <a:gd name="f13" fmla="val 69520"/>
              <a:gd name="f14" fmla="val 64308"/>
              <a:gd name="f15" fmla="val 134814"/>
              <a:gd name="f16" fmla="+- 0 0 -90"/>
              <a:gd name="f17" fmla="*/ f3 1 139039"/>
              <a:gd name="f18" fmla="*/ f4 1 139039"/>
              <a:gd name="f19" fmla="val f5"/>
              <a:gd name="f20" fmla="val f6"/>
              <a:gd name="f21" fmla="*/ f16 f0 1"/>
              <a:gd name="f22" fmla="+- f20 0 f19"/>
              <a:gd name="f23" fmla="*/ f21 1 f2"/>
              <a:gd name="f24" fmla="*/ f22 1 139039"/>
              <a:gd name="f25" fmla="*/ 129602 f22 1"/>
              <a:gd name="f26" fmla="*/ 60082 f22 1"/>
              <a:gd name="f27" fmla="*/ 78957 f22 1"/>
              <a:gd name="f28" fmla="*/ 9437 f22 1"/>
              <a:gd name="f29" fmla="*/ 69520 f22 1"/>
              <a:gd name="f30" fmla="*/ 0 f22 1"/>
              <a:gd name="f31" fmla="*/ 139039 f22 1"/>
              <a:gd name="f32" fmla="+- f23 0 f1"/>
              <a:gd name="f33" fmla="*/ f25 1 139039"/>
              <a:gd name="f34" fmla="*/ f26 1 139039"/>
              <a:gd name="f35" fmla="*/ f27 1 139039"/>
              <a:gd name="f36" fmla="*/ f28 1 139039"/>
              <a:gd name="f37" fmla="*/ f29 1 139039"/>
              <a:gd name="f38" fmla="*/ f30 1 139039"/>
              <a:gd name="f39" fmla="*/ f31 1 139039"/>
              <a:gd name="f40" fmla="*/ f19 1 f24"/>
              <a:gd name="f41" fmla="*/ f20 1 f24"/>
              <a:gd name="f42" fmla="*/ f33 1 f24"/>
              <a:gd name="f43" fmla="*/ f34 1 f24"/>
              <a:gd name="f44" fmla="*/ f35 1 f24"/>
              <a:gd name="f45" fmla="*/ f36 1 f24"/>
              <a:gd name="f46" fmla="*/ f37 1 f24"/>
              <a:gd name="f47" fmla="*/ f38 1 f24"/>
              <a:gd name="f48" fmla="*/ f39 1 f24"/>
              <a:gd name="f49" fmla="*/ f40 f17 1"/>
              <a:gd name="f50" fmla="*/ f41 f17 1"/>
              <a:gd name="f51" fmla="*/ f41 f18 1"/>
              <a:gd name="f52" fmla="*/ f40 f18 1"/>
              <a:gd name="f53" fmla="*/ f42 f17 1"/>
              <a:gd name="f54" fmla="*/ f43 f18 1"/>
              <a:gd name="f55" fmla="*/ f44 f17 1"/>
              <a:gd name="f56" fmla="*/ f45 f18 1"/>
              <a:gd name="f57" fmla="*/ f46 f17 1"/>
              <a:gd name="f58" fmla="*/ f47 f18 1"/>
              <a:gd name="f59" fmla="*/ f43 f17 1"/>
              <a:gd name="f60" fmla="*/ f45 f17 1"/>
              <a:gd name="f61" fmla="*/ f47 f17 1"/>
              <a:gd name="f62" fmla="*/ f46 f18 1"/>
              <a:gd name="f63" fmla="*/ f44 f18 1"/>
              <a:gd name="f64" fmla="*/ f42 f18 1"/>
              <a:gd name="f65" fmla="*/ f48 f18 1"/>
              <a:gd name="f66" fmla="*/ f48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3" y="f54"/>
              </a:cxn>
              <a:cxn ang="f32">
                <a:pos x="f55" y="f54"/>
              </a:cxn>
              <a:cxn ang="f32">
                <a:pos x="f55" y="f56"/>
              </a:cxn>
              <a:cxn ang="f32">
                <a:pos x="f57" y="f58"/>
              </a:cxn>
              <a:cxn ang="f32">
                <a:pos x="f59" y="f56"/>
              </a:cxn>
              <a:cxn ang="f32">
                <a:pos x="f59" y="f54"/>
              </a:cxn>
              <a:cxn ang="f32">
                <a:pos x="f60" y="f54"/>
              </a:cxn>
              <a:cxn ang="f32">
                <a:pos x="f61" y="f62"/>
              </a:cxn>
              <a:cxn ang="f32">
                <a:pos x="f60" y="f63"/>
              </a:cxn>
              <a:cxn ang="f32">
                <a:pos x="f59" y="f63"/>
              </a:cxn>
              <a:cxn ang="f32">
                <a:pos x="f59" y="f64"/>
              </a:cxn>
              <a:cxn ang="f32">
                <a:pos x="f57" y="f65"/>
              </a:cxn>
              <a:cxn ang="f32">
                <a:pos x="f55" y="f64"/>
              </a:cxn>
              <a:cxn ang="f32">
                <a:pos x="f55" y="f63"/>
              </a:cxn>
              <a:cxn ang="f32">
                <a:pos x="f53" y="f63"/>
              </a:cxn>
              <a:cxn ang="f32">
                <a:pos x="f66" y="f62"/>
              </a:cxn>
              <a:cxn ang="f32">
                <a:pos x="f53" y="f54"/>
              </a:cxn>
            </a:cxnLst>
            <a:rect l="f49" t="f52" r="f50" b="f51"/>
            <a:pathLst>
              <a:path w="139039" h="139039">
                <a:moveTo>
                  <a:pt x="f7" y="f8"/>
                </a:moveTo>
                <a:lnTo>
                  <a:pt x="f9" y="f8"/>
                </a:lnTo>
                <a:lnTo>
                  <a:pt x="f9" y="f10"/>
                </a:lnTo>
                <a:cubicBezTo>
                  <a:pt x="f9" y="f11"/>
                  <a:pt x="f12" y="f5"/>
                  <a:pt x="f13" y="f5"/>
                </a:cubicBezTo>
                <a:cubicBezTo>
                  <a:pt x="f14" y="f5"/>
                  <a:pt x="f8" y="f11"/>
                  <a:pt x="f8" y="f10"/>
                </a:cubicBezTo>
                <a:lnTo>
                  <a:pt x="f8" y="f8"/>
                </a:lnTo>
                <a:lnTo>
                  <a:pt x="f10" y="f8"/>
                </a:lnTo>
                <a:cubicBezTo>
                  <a:pt x="f11" y="f8"/>
                  <a:pt x="f5" y="f14"/>
                  <a:pt x="f5" y="f13"/>
                </a:cubicBezTo>
                <a:cubicBezTo>
                  <a:pt x="f5" y="f12"/>
                  <a:pt x="f11" y="f9"/>
                  <a:pt x="f10" y="f9"/>
                </a:cubicBezTo>
                <a:lnTo>
                  <a:pt x="f8" y="f9"/>
                </a:lnTo>
                <a:lnTo>
                  <a:pt x="f8" y="f7"/>
                </a:lnTo>
                <a:cubicBezTo>
                  <a:pt x="f8" y="f15"/>
                  <a:pt x="f14" y="f6"/>
                  <a:pt x="f13" y="f6"/>
                </a:cubicBezTo>
                <a:cubicBezTo>
                  <a:pt x="f12" y="f6"/>
                  <a:pt x="f9" y="f15"/>
                  <a:pt x="f9" y="f7"/>
                </a:cubicBezTo>
                <a:lnTo>
                  <a:pt x="f9" y="f9"/>
                </a:lnTo>
                <a:lnTo>
                  <a:pt x="f7" y="f9"/>
                </a:lnTo>
                <a:cubicBezTo>
                  <a:pt x="f15" y="f9"/>
                  <a:pt x="f6" y="f12"/>
                  <a:pt x="f6" y="f13"/>
                </a:cubicBezTo>
                <a:cubicBezTo>
                  <a:pt x="f6" y="f14"/>
                  <a:pt x="f15" y="f8"/>
                  <a:pt x="f7" y="f8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Graphic 12"/>
          <p:cNvSpPr>
            <a:spLocks noMove="1" noResize="1"/>
          </p:cNvSpPr>
          <p:nvPr/>
        </p:nvSpPr>
        <p:spPr>
          <a:xfrm>
            <a:off x="3833137" y="812636"/>
            <a:ext cx="91138" cy="911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91138"/>
              <a:gd name="f7" fmla="val 45569"/>
              <a:gd name="f8" fmla="val 70736"/>
              <a:gd name="f9" fmla="val 20402"/>
              <a:gd name="f10" fmla="+- 0 0 -90"/>
              <a:gd name="f11" fmla="*/ f3 1 91138"/>
              <a:gd name="f12" fmla="*/ f4 1 91138"/>
              <a:gd name="f13" fmla="val f5"/>
              <a:gd name="f14" fmla="val f6"/>
              <a:gd name="f15" fmla="*/ f10 f0 1"/>
              <a:gd name="f16" fmla="+- f14 0 f13"/>
              <a:gd name="f17" fmla="*/ f15 1 f2"/>
              <a:gd name="f18" fmla="*/ f16 1 91138"/>
              <a:gd name="f19" fmla="*/ 91138 f16 1"/>
              <a:gd name="f20" fmla="*/ 45569 f16 1"/>
              <a:gd name="f21" fmla="*/ 0 f16 1"/>
              <a:gd name="f22" fmla="+- f17 0 f1"/>
              <a:gd name="f23" fmla="*/ f19 1 91138"/>
              <a:gd name="f24" fmla="*/ f20 1 91138"/>
              <a:gd name="f25" fmla="*/ f21 1 91138"/>
              <a:gd name="f26" fmla="*/ f13 1 f18"/>
              <a:gd name="f27" fmla="*/ f14 1 f18"/>
              <a:gd name="f28" fmla="*/ f23 1 f18"/>
              <a:gd name="f29" fmla="*/ f24 1 f18"/>
              <a:gd name="f30" fmla="*/ f25 1 f18"/>
              <a:gd name="f31" fmla="*/ f26 f11 1"/>
              <a:gd name="f32" fmla="*/ f27 f11 1"/>
              <a:gd name="f33" fmla="*/ f27 f12 1"/>
              <a:gd name="f34" fmla="*/ f26 f12 1"/>
              <a:gd name="f35" fmla="*/ f28 f11 1"/>
              <a:gd name="f36" fmla="*/ f29 f12 1"/>
              <a:gd name="f37" fmla="*/ f29 f11 1"/>
              <a:gd name="f38" fmla="*/ f28 f12 1"/>
              <a:gd name="f39" fmla="*/ f30 f11 1"/>
              <a:gd name="f40" fmla="*/ f30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2">
                <a:pos x="f35" y="f36"/>
              </a:cxn>
              <a:cxn ang="f22">
                <a:pos x="f37" y="f38"/>
              </a:cxn>
              <a:cxn ang="f22">
                <a:pos x="f39" y="f36"/>
              </a:cxn>
              <a:cxn ang="f22">
                <a:pos x="f37" y="f40"/>
              </a:cxn>
              <a:cxn ang="f22">
                <a:pos x="f35" y="f36"/>
              </a:cxn>
            </a:cxnLst>
            <a:rect l="f31" t="f34" r="f32" b="f33"/>
            <a:pathLst>
              <a:path w="91138" h="91138">
                <a:moveTo>
                  <a:pt x="f6" y="f7"/>
                </a:moveTo>
                <a:cubicBezTo>
                  <a:pt x="f6" y="f8"/>
                  <a:pt x="f8" y="f6"/>
                  <a:pt x="f7" y="f6"/>
                </a:cubicBezTo>
                <a:cubicBezTo>
                  <a:pt x="f9" y="f6"/>
                  <a:pt x="f5" y="f8"/>
                  <a:pt x="f5" y="f7"/>
                </a:cubicBezTo>
                <a:cubicBezTo>
                  <a:pt x="f5" y="f9"/>
                  <a:pt x="f9" y="f5"/>
                  <a:pt x="f7" y="f5"/>
                </a:cubicBezTo>
                <a:cubicBezTo>
                  <a:pt x="f8" y="f5"/>
                  <a:pt x="f6" y="f9"/>
                  <a:pt x="f6" y="f7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Graphic 15"/>
          <p:cNvSpPr>
            <a:spLocks noMove="1" noResize="1"/>
          </p:cNvSpPr>
          <p:nvPr/>
        </p:nvSpPr>
        <p:spPr>
          <a:xfrm>
            <a:off x="3458818" y="1037066"/>
            <a:ext cx="127714" cy="12771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7714"/>
              <a:gd name="f7" fmla="val 63857"/>
              <a:gd name="f8" fmla="val 18874"/>
              <a:gd name="f9" fmla="val 88700"/>
              <a:gd name="f10" fmla="val 108840"/>
              <a:gd name="f11" fmla="val 39014"/>
              <a:gd name="f12" fmla="val 18898"/>
              <a:gd name="f13" fmla="val 39024"/>
              <a:gd name="f14" fmla="val 28590"/>
              <a:gd name="f15" fmla="val 99124"/>
              <a:gd name="f16" fmla="+- 0 0 -90"/>
              <a:gd name="f17" fmla="*/ f3 1 127714"/>
              <a:gd name="f18" fmla="*/ f4 1 127714"/>
              <a:gd name="f19" fmla="val f5"/>
              <a:gd name="f20" fmla="val f6"/>
              <a:gd name="f21" fmla="*/ f16 f0 1"/>
              <a:gd name="f22" fmla="+- f20 0 f19"/>
              <a:gd name="f23" fmla="*/ f21 1 f2"/>
              <a:gd name="f24" fmla="*/ f22 1 127714"/>
              <a:gd name="f25" fmla="*/ 63857 f22 1"/>
              <a:gd name="f26" fmla="*/ 18874 f22 1"/>
              <a:gd name="f27" fmla="*/ 108840 f22 1"/>
              <a:gd name="f28" fmla="*/ 0 f22 1"/>
              <a:gd name="f29" fmla="*/ 127714 f22 1"/>
              <a:gd name="f30" fmla="+- f23 0 f1"/>
              <a:gd name="f31" fmla="*/ f25 1 127714"/>
              <a:gd name="f32" fmla="*/ f26 1 127714"/>
              <a:gd name="f33" fmla="*/ f27 1 127714"/>
              <a:gd name="f34" fmla="*/ f28 1 127714"/>
              <a:gd name="f35" fmla="*/ f29 1 127714"/>
              <a:gd name="f36" fmla="*/ f19 1 f24"/>
              <a:gd name="f37" fmla="*/ f20 1 f24"/>
              <a:gd name="f38" fmla="*/ f31 1 f24"/>
              <a:gd name="f39" fmla="*/ f32 1 f24"/>
              <a:gd name="f40" fmla="*/ f33 1 f24"/>
              <a:gd name="f41" fmla="*/ f34 1 f24"/>
              <a:gd name="f42" fmla="*/ f35 1 f24"/>
              <a:gd name="f43" fmla="*/ f36 f17 1"/>
              <a:gd name="f44" fmla="*/ f37 f17 1"/>
              <a:gd name="f45" fmla="*/ f37 f18 1"/>
              <a:gd name="f46" fmla="*/ f36 f18 1"/>
              <a:gd name="f47" fmla="*/ f38 f17 1"/>
              <a:gd name="f48" fmla="*/ f39 f18 1"/>
              <a:gd name="f49" fmla="*/ f40 f17 1"/>
              <a:gd name="f50" fmla="*/ f38 f18 1"/>
              <a:gd name="f51" fmla="*/ f40 f18 1"/>
              <a:gd name="f52" fmla="*/ f39 f17 1"/>
              <a:gd name="f53" fmla="*/ f41 f18 1"/>
              <a:gd name="f54" fmla="*/ f41 f17 1"/>
              <a:gd name="f55" fmla="*/ f42 f18 1"/>
              <a:gd name="f56" fmla="*/ f42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47" y="f48"/>
              </a:cxn>
              <a:cxn ang="f30">
                <a:pos x="f49" y="f50"/>
              </a:cxn>
              <a:cxn ang="f30">
                <a:pos x="f47" y="f51"/>
              </a:cxn>
              <a:cxn ang="f30">
                <a:pos x="f52" y="f50"/>
              </a:cxn>
              <a:cxn ang="f30">
                <a:pos x="f47" y="f48"/>
              </a:cxn>
              <a:cxn ang="f30">
                <a:pos x="f47" y="f53"/>
              </a:cxn>
              <a:cxn ang="f30">
                <a:pos x="f54" y="f50"/>
              </a:cxn>
              <a:cxn ang="f30">
                <a:pos x="f47" y="f55"/>
              </a:cxn>
              <a:cxn ang="f30">
                <a:pos x="f56" y="f50"/>
              </a:cxn>
              <a:cxn ang="f30">
                <a:pos x="f47" y="f53"/>
              </a:cxn>
            </a:cxnLst>
            <a:rect l="f43" t="f46" r="f44" b="f45"/>
            <a:pathLst>
              <a:path w="127714" h="127714">
                <a:moveTo>
                  <a:pt x="f7" y="f8"/>
                </a:moveTo>
                <a:cubicBezTo>
                  <a:pt x="f9" y="f8"/>
                  <a:pt x="f10" y="f11"/>
                  <a:pt x="f10" y="f7"/>
                </a:cubicBezTo>
                <a:cubicBezTo>
                  <a:pt x="f10" y="f9"/>
                  <a:pt x="f9" y="f10"/>
                  <a:pt x="f7" y="f10"/>
                </a:cubicBezTo>
                <a:cubicBezTo>
                  <a:pt x="f11" y="f10"/>
                  <a:pt x="f8" y="f9"/>
                  <a:pt x="f8" y="f7"/>
                </a:cubicBezTo>
                <a:cubicBezTo>
                  <a:pt x="f12" y="f13"/>
                  <a:pt x="f13" y="f12"/>
                  <a:pt x="f7" y="f8"/>
                </a:cubicBezTo>
                <a:moveTo>
                  <a:pt x="f7" y="f5"/>
                </a:moveTo>
                <a:cubicBezTo>
                  <a:pt x="f14" y="f5"/>
                  <a:pt x="f5" y="f14"/>
                  <a:pt x="f5" y="f7"/>
                </a:cubicBezTo>
                <a:cubicBezTo>
                  <a:pt x="f5" y="f15"/>
                  <a:pt x="f14" y="f6"/>
                  <a:pt x="f7" y="f6"/>
                </a:cubicBezTo>
                <a:cubicBezTo>
                  <a:pt x="f15" y="f6"/>
                  <a:pt x="f6" y="f15"/>
                  <a:pt x="f6" y="f7"/>
                </a:cubicBezTo>
                <a:cubicBezTo>
                  <a:pt x="f6" y="f14"/>
                  <a:pt x="f15" y="f5"/>
                  <a:pt x="f7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8" name="Straight Connector 15"/>
          <p:cNvCxnSpPr>
            <a:cxnSpLocks noMove="1" noResize="1"/>
          </p:cNvCxnSpPr>
          <p:nvPr/>
        </p:nvCxnSpPr>
        <p:spPr>
          <a:xfrm>
            <a:off x="856116" y="3503029"/>
            <a:ext cx="0" cy="3346092"/>
          </a:xfrm>
          <a:prstGeom prst="straightConnector1">
            <a:avLst/>
          </a:prstGeom>
          <a:noFill/>
          <a:ln w="25402" cap="sq">
            <a:solidFill>
              <a:srgbClr val="FFFFFF"/>
            </a:solidFill>
            <a:prstDash val="solid"/>
            <a:bevel/>
          </a:ln>
        </p:spPr>
      </p:cxnSp>
      <p:sp>
        <p:nvSpPr>
          <p:cNvPr id="9" name="Graphic 22"/>
          <p:cNvSpPr>
            <a:spLocks noMove="1" noResize="1"/>
          </p:cNvSpPr>
          <p:nvPr/>
        </p:nvSpPr>
        <p:spPr>
          <a:xfrm>
            <a:off x="10836426" y="5636681"/>
            <a:ext cx="151534" cy="15153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51536"/>
              <a:gd name="f7" fmla="val 141251"/>
              <a:gd name="f8" fmla="val 65483"/>
              <a:gd name="f9" fmla="val 86053"/>
              <a:gd name="f10" fmla="val 10285"/>
              <a:gd name="f11" fmla="val 4605"/>
              <a:gd name="f12" fmla="val 81448"/>
              <a:gd name="f13" fmla="val 75768"/>
              <a:gd name="f14" fmla="val 70088"/>
              <a:gd name="f15" fmla="val 146931"/>
              <a:gd name="f16" fmla="+- 0 0 -90"/>
              <a:gd name="f17" fmla="*/ f3 1 151536"/>
              <a:gd name="f18" fmla="*/ f4 1 151536"/>
              <a:gd name="f19" fmla="val f5"/>
              <a:gd name="f20" fmla="val f6"/>
              <a:gd name="f21" fmla="*/ f16 f0 1"/>
              <a:gd name="f22" fmla="+- f20 0 f19"/>
              <a:gd name="f23" fmla="*/ f21 1 f2"/>
              <a:gd name="f24" fmla="*/ f22 1 151536"/>
              <a:gd name="f25" fmla="*/ 141251 f22 1"/>
              <a:gd name="f26" fmla="*/ 65483 f22 1"/>
              <a:gd name="f27" fmla="*/ 86053 f22 1"/>
              <a:gd name="f28" fmla="*/ 10285 f22 1"/>
              <a:gd name="f29" fmla="*/ 75768 f22 1"/>
              <a:gd name="f30" fmla="*/ 0 f22 1"/>
              <a:gd name="f31" fmla="*/ 151536 f22 1"/>
              <a:gd name="f32" fmla="+- f23 0 f1"/>
              <a:gd name="f33" fmla="*/ f25 1 151536"/>
              <a:gd name="f34" fmla="*/ f26 1 151536"/>
              <a:gd name="f35" fmla="*/ f27 1 151536"/>
              <a:gd name="f36" fmla="*/ f28 1 151536"/>
              <a:gd name="f37" fmla="*/ f29 1 151536"/>
              <a:gd name="f38" fmla="*/ f30 1 151536"/>
              <a:gd name="f39" fmla="*/ f31 1 151536"/>
              <a:gd name="f40" fmla="*/ f19 1 f24"/>
              <a:gd name="f41" fmla="*/ f20 1 f24"/>
              <a:gd name="f42" fmla="*/ f33 1 f24"/>
              <a:gd name="f43" fmla="*/ f34 1 f24"/>
              <a:gd name="f44" fmla="*/ f35 1 f24"/>
              <a:gd name="f45" fmla="*/ f36 1 f24"/>
              <a:gd name="f46" fmla="*/ f37 1 f24"/>
              <a:gd name="f47" fmla="*/ f38 1 f24"/>
              <a:gd name="f48" fmla="*/ f39 1 f24"/>
              <a:gd name="f49" fmla="*/ f40 f17 1"/>
              <a:gd name="f50" fmla="*/ f41 f17 1"/>
              <a:gd name="f51" fmla="*/ f41 f18 1"/>
              <a:gd name="f52" fmla="*/ f40 f18 1"/>
              <a:gd name="f53" fmla="*/ f42 f17 1"/>
              <a:gd name="f54" fmla="*/ f43 f18 1"/>
              <a:gd name="f55" fmla="*/ f44 f17 1"/>
              <a:gd name="f56" fmla="*/ f45 f18 1"/>
              <a:gd name="f57" fmla="*/ f46 f17 1"/>
              <a:gd name="f58" fmla="*/ f47 f18 1"/>
              <a:gd name="f59" fmla="*/ f43 f17 1"/>
              <a:gd name="f60" fmla="*/ f45 f17 1"/>
              <a:gd name="f61" fmla="*/ f47 f17 1"/>
              <a:gd name="f62" fmla="*/ f46 f18 1"/>
              <a:gd name="f63" fmla="*/ f44 f18 1"/>
              <a:gd name="f64" fmla="*/ f42 f18 1"/>
              <a:gd name="f65" fmla="*/ f48 f18 1"/>
              <a:gd name="f66" fmla="*/ f48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3" y="f54"/>
              </a:cxn>
              <a:cxn ang="f32">
                <a:pos x="f55" y="f54"/>
              </a:cxn>
              <a:cxn ang="f32">
                <a:pos x="f55" y="f56"/>
              </a:cxn>
              <a:cxn ang="f32">
                <a:pos x="f57" y="f58"/>
              </a:cxn>
              <a:cxn ang="f32">
                <a:pos x="f59" y="f56"/>
              </a:cxn>
              <a:cxn ang="f32">
                <a:pos x="f59" y="f54"/>
              </a:cxn>
              <a:cxn ang="f32">
                <a:pos x="f60" y="f54"/>
              </a:cxn>
              <a:cxn ang="f32">
                <a:pos x="f61" y="f62"/>
              </a:cxn>
              <a:cxn ang="f32">
                <a:pos x="f60" y="f63"/>
              </a:cxn>
              <a:cxn ang="f32">
                <a:pos x="f59" y="f63"/>
              </a:cxn>
              <a:cxn ang="f32">
                <a:pos x="f59" y="f64"/>
              </a:cxn>
              <a:cxn ang="f32">
                <a:pos x="f57" y="f65"/>
              </a:cxn>
              <a:cxn ang="f32">
                <a:pos x="f55" y="f64"/>
              </a:cxn>
              <a:cxn ang="f32">
                <a:pos x="f55" y="f63"/>
              </a:cxn>
              <a:cxn ang="f32">
                <a:pos x="f53" y="f63"/>
              </a:cxn>
              <a:cxn ang="f32">
                <a:pos x="f66" y="f62"/>
              </a:cxn>
              <a:cxn ang="f32">
                <a:pos x="f53" y="f54"/>
              </a:cxn>
            </a:cxnLst>
            <a:rect l="f49" t="f52" r="f50" b="f51"/>
            <a:pathLst>
              <a:path w="151536" h="151536">
                <a:moveTo>
                  <a:pt x="f7" y="f8"/>
                </a:moveTo>
                <a:lnTo>
                  <a:pt x="f9" y="f8"/>
                </a:lnTo>
                <a:lnTo>
                  <a:pt x="f9" y="f10"/>
                </a:lnTo>
                <a:cubicBezTo>
                  <a:pt x="f9" y="f11"/>
                  <a:pt x="f12" y="f5"/>
                  <a:pt x="f13" y="f5"/>
                </a:cubicBezTo>
                <a:cubicBezTo>
                  <a:pt x="f14" y="f5"/>
                  <a:pt x="f8" y="f11"/>
                  <a:pt x="f8" y="f10"/>
                </a:cubicBezTo>
                <a:lnTo>
                  <a:pt x="f8" y="f8"/>
                </a:lnTo>
                <a:lnTo>
                  <a:pt x="f10" y="f8"/>
                </a:lnTo>
                <a:cubicBezTo>
                  <a:pt x="f11" y="f8"/>
                  <a:pt x="f5" y="f14"/>
                  <a:pt x="f5" y="f13"/>
                </a:cubicBezTo>
                <a:cubicBezTo>
                  <a:pt x="f5" y="f12"/>
                  <a:pt x="f11" y="f9"/>
                  <a:pt x="f10" y="f9"/>
                </a:cubicBezTo>
                <a:lnTo>
                  <a:pt x="f8" y="f9"/>
                </a:lnTo>
                <a:lnTo>
                  <a:pt x="f8" y="f7"/>
                </a:lnTo>
                <a:cubicBezTo>
                  <a:pt x="f8" y="f15"/>
                  <a:pt x="f14" y="f6"/>
                  <a:pt x="f13" y="f6"/>
                </a:cubicBezTo>
                <a:cubicBezTo>
                  <a:pt x="f12" y="f6"/>
                  <a:pt x="f9" y="f15"/>
                  <a:pt x="f9" y="f7"/>
                </a:cubicBezTo>
                <a:lnTo>
                  <a:pt x="f9" y="f9"/>
                </a:lnTo>
                <a:lnTo>
                  <a:pt x="f7" y="f9"/>
                </a:lnTo>
                <a:cubicBezTo>
                  <a:pt x="f15" y="f9"/>
                  <a:pt x="f6" y="f12"/>
                  <a:pt x="f6" y="f13"/>
                </a:cubicBezTo>
                <a:cubicBezTo>
                  <a:pt x="f6" y="f14"/>
                  <a:pt x="f15" y="f8"/>
                  <a:pt x="f7" y="f8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Graphic 23"/>
          <p:cNvSpPr>
            <a:spLocks noMove="1" noResize="1"/>
          </p:cNvSpPr>
          <p:nvPr/>
        </p:nvSpPr>
        <p:spPr>
          <a:xfrm>
            <a:off x="11245172" y="6096761"/>
            <a:ext cx="108621" cy="10862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8625"/>
              <a:gd name="f7" fmla="val 54313"/>
              <a:gd name="f8" fmla="val 16053"/>
              <a:gd name="f9" fmla="val 75442"/>
              <a:gd name="f10" fmla="val 92572"/>
              <a:gd name="f11" fmla="val 33182"/>
              <a:gd name="f12" fmla="val 16074"/>
              <a:gd name="f13" fmla="val 33191"/>
              <a:gd name="f14" fmla="val 24317"/>
              <a:gd name="f15" fmla="val 84309"/>
              <a:gd name="f16" fmla="+- 0 0 -90"/>
              <a:gd name="f17" fmla="*/ f3 1 108625"/>
              <a:gd name="f18" fmla="*/ f4 1 108625"/>
              <a:gd name="f19" fmla="val f5"/>
              <a:gd name="f20" fmla="val f6"/>
              <a:gd name="f21" fmla="*/ f16 f0 1"/>
              <a:gd name="f22" fmla="+- f20 0 f19"/>
              <a:gd name="f23" fmla="*/ f21 1 f2"/>
              <a:gd name="f24" fmla="*/ f22 1 108625"/>
              <a:gd name="f25" fmla="*/ 54313 f22 1"/>
              <a:gd name="f26" fmla="*/ 16053 f22 1"/>
              <a:gd name="f27" fmla="*/ 92572 f22 1"/>
              <a:gd name="f28" fmla="*/ 0 f22 1"/>
              <a:gd name="f29" fmla="*/ 108625 f22 1"/>
              <a:gd name="f30" fmla="+- f23 0 f1"/>
              <a:gd name="f31" fmla="*/ f25 1 108625"/>
              <a:gd name="f32" fmla="*/ f26 1 108625"/>
              <a:gd name="f33" fmla="*/ f27 1 108625"/>
              <a:gd name="f34" fmla="*/ f28 1 108625"/>
              <a:gd name="f35" fmla="*/ f29 1 108625"/>
              <a:gd name="f36" fmla="*/ f19 1 f24"/>
              <a:gd name="f37" fmla="*/ f20 1 f24"/>
              <a:gd name="f38" fmla="*/ f31 1 f24"/>
              <a:gd name="f39" fmla="*/ f32 1 f24"/>
              <a:gd name="f40" fmla="*/ f33 1 f24"/>
              <a:gd name="f41" fmla="*/ f34 1 f24"/>
              <a:gd name="f42" fmla="*/ f35 1 f24"/>
              <a:gd name="f43" fmla="*/ f36 f17 1"/>
              <a:gd name="f44" fmla="*/ f37 f17 1"/>
              <a:gd name="f45" fmla="*/ f37 f18 1"/>
              <a:gd name="f46" fmla="*/ f36 f18 1"/>
              <a:gd name="f47" fmla="*/ f38 f17 1"/>
              <a:gd name="f48" fmla="*/ f39 f18 1"/>
              <a:gd name="f49" fmla="*/ f40 f17 1"/>
              <a:gd name="f50" fmla="*/ f38 f18 1"/>
              <a:gd name="f51" fmla="*/ f40 f18 1"/>
              <a:gd name="f52" fmla="*/ f39 f17 1"/>
              <a:gd name="f53" fmla="*/ f41 f18 1"/>
              <a:gd name="f54" fmla="*/ f41 f17 1"/>
              <a:gd name="f55" fmla="*/ f42 f18 1"/>
              <a:gd name="f56" fmla="*/ f42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47" y="f48"/>
              </a:cxn>
              <a:cxn ang="f30">
                <a:pos x="f49" y="f50"/>
              </a:cxn>
              <a:cxn ang="f30">
                <a:pos x="f47" y="f51"/>
              </a:cxn>
              <a:cxn ang="f30">
                <a:pos x="f52" y="f50"/>
              </a:cxn>
              <a:cxn ang="f30">
                <a:pos x="f47" y="f48"/>
              </a:cxn>
              <a:cxn ang="f30">
                <a:pos x="f47" y="f53"/>
              </a:cxn>
              <a:cxn ang="f30">
                <a:pos x="f54" y="f50"/>
              </a:cxn>
              <a:cxn ang="f30">
                <a:pos x="f47" y="f55"/>
              </a:cxn>
              <a:cxn ang="f30">
                <a:pos x="f56" y="f50"/>
              </a:cxn>
              <a:cxn ang="f30">
                <a:pos x="f47" y="f53"/>
              </a:cxn>
            </a:cxnLst>
            <a:rect l="f43" t="f46" r="f44" b="f45"/>
            <a:pathLst>
              <a:path w="108625" h="108625">
                <a:moveTo>
                  <a:pt x="f7" y="f8"/>
                </a:moveTo>
                <a:cubicBezTo>
                  <a:pt x="f9" y="f8"/>
                  <a:pt x="f10" y="f11"/>
                  <a:pt x="f10" y="f7"/>
                </a:cubicBezTo>
                <a:cubicBezTo>
                  <a:pt x="f10" y="f9"/>
                  <a:pt x="f9" y="f10"/>
                  <a:pt x="f7" y="f10"/>
                </a:cubicBezTo>
                <a:cubicBezTo>
                  <a:pt x="f11" y="f10"/>
                  <a:pt x="f8" y="f9"/>
                  <a:pt x="f8" y="f7"/>
                </a:cubicBezTo>
                <a:cubicBezTo>
                  <a:pt x="f12" y="f13"/>
                  <a:pt x="f13" y="f12"/>
                  <a:pt x="f7" y="f8"/>
                </a:cubicBezTo>
                <a:moveTo>
                  <a:pt x="f7" y="f5"/>
                </a:moveTo>
                <a:cubicBezTo>
                  <a:pt x="f14" y="f5"/>
                  <a:pt x="f5" y="f14"/>
                  <a:pt x="f5" y="f7"/>
                </a:cubicBezTo>
                <a:cubicBezTo>
                  <a:pt x="f5" y="f15"/>
                  <a:pt x="f14" y="f6"/>
                  <a:pt x="f7" y="f6"/>
                </a:cubicBezTo>
                <a:cubicBezTo>
                  <a:pt x="f15" y="f6"/>
                  <a:pt x="f6" y="f15"/>
                  <a:pt x="f6" y="f7"/>
                </a:cubicBezTo>
                <a:cubicBezTo>
                  <a:pt x="f6" y="f14"/>
                  <a:pt x="f15" y="f5"/>
                  <a:pt x="f7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Graphic 21"/>
          <p:cNvSpPr>
            <a:spLocks noMove="1" noResize="1"/>
          </p:cNvSpPr>
          <p:nvPr/>
        </p:nvSpPr>
        <p:spPr>
          <a:xfrm>
            <a:off x="10554288" y="6238027"/>
            <a:ext cx="95755" cy="9575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95759"/>
              <a:gd name="f7" fmla="val 47880"/>
              <a:gd name="f8" fmla="val 74323"/>
              <a:gd name="f9" fmla="val 21436"/>
              <a:gd name="f10" fmla="+- 0 0 -90"/>
              <a:gd name="f11" fmla="*/ f3 1 95759"/>
              <a:gd name="f12" fmla="*/ f4 1 95759"/>
              <a:gd name="f13" fmla="val f5"/>
              <a:gd name="f14" fmla="val f6"/>
              <a:gd name="f15" fmla="*/ f10 f0 1"/>
              <a:gd name="f16" fmla="+- f14 0 f13"/>
              <a:gd name="f17" fmla="*/ f15 1 f2"/>
              <a:gd name="f18" fmla="*/ f16 1 95759"/>
              <a:gd name="f19" fmla="*/ 95759 f16 1"/>
              <a:gd name="f20" fmla="*/ 47880 f16 1"/>
              <a:gd name="f21" fmla="*/ 0 f16 1"/>
              <a:gd name="f22" fmla="+- f17 0 f1"/>
              <a:gd name="f23" fmla="*/ f19 1 95759"/>
              <a:gd name="f24" fmla="*/ f20 1 95759"/>
              <a:gd name="f25" fmla="*/ f21 1 95759"/>
              <a:gd name="f26" fmla="*/ f13 1 f18"/>
              <a:gd name="f27" fmla="*/ f14 1 f18"/>
              <a:gd name="f28" fmla="*/ f23 1 f18"/>
              <a:gd name="f29" fmla="*/ f24 1 f18"/>
              <a:gd name="f30" fmla="*/ f25 1 f18"/>
              <a:gd name="f31" fmla="*/ f26 f11 1"/>
              <a:gd name="f32" fmla="*/ f27 f11 1"/>
              <a:gd name="f33" fmla="*/ f27 f12 1"/>
              <a:gd name="f34" fmla="*/ f26 f12 1"/>
              <a:gd name="f35" fmla="*/ f28 f11 1"/>
              <a:gd name="f36" fmla="*/ f29 f12 1"/>
              <a:gd name="f37" fmla="*/ f29 f11 1"/>
              <a:gd name="f38" fmla="*/ f28 f12 1"/>
              <a:gd name="f39" fmla="*/ f30 f11 1"/>
              <a:gd name="f40" fmla="*/ f30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2">
                <a:pos x="f35" y="f36"/>
              </a:cxn>
              <a:cxn ang="f22">
                <a:pos x="f37" y="f38"/>
              </a:cxn>
              <a:cxn ang="f22">
                <a:pos x="f39" y="f36"/>
              </a:cxn>
              <a:cxn ang="f22">
                <a:pos x="f37" y="f40"/>
              </a:cxn>
              <a:cxn ang="f22">
                <a:pos x="f35" y="f36"/>
              </a:cxn>
            </a:cxnLst>
            <a:rect l="f31" t="f34" r="f32" b="f33"/>
            <a:pathLst>
              <a:path w="95759" h="95759">
                <a:moveTo>
                  <a:pt x="f6" y="f7"/>
                </a:moveTo>
                <a:cubicBezTo>
                  <a:pt x="f6" y="f8"/>
                  <a:pt x="f8" y="f6"/>
                  <a:pt x="f7" y="f6"/>
                </a:cubicBezTo>
                <a:cubicBezTo>
                  <a:pt x="f9" y="f6"/>
                  <a:pt x="f5" y="f8"/>
                  <a:pt x="f5" y="f7"/>
                </a:cubicBezTo>
                <a:cubicBezTo>
                  <a:pt x="f5" y="f9"/>
                  <a:pt x="f9" y="f5"/>
                  <a:pt x="f7" y="f5"/>
                </a:cubicBezTo>
                <a:cubicBezTo>
                  <a:pt x="f8" y="f5"/>
                  <a:pt x="f6" y="f9"/>
                  <a:pt x="f6" y="f7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2"/>
          <p:cNvSpPr>
            <a:spLocks noMove="1" noResize="1"/>
          </p:cNvSpPr>
          <p:nvPr/>
        </p:nvSpPr>
        <p:spPr>
          <a:xfrm>
            <a:off x="0" y="0"/>
            <a:ext cx="5779913" cy="6858000"/>
          </a:xfrm>
          <a:prstGeom prst="rect">
            <a:avLst/>
          </a:prstGeom>
          <a:gradFill>
            <a:gsLst>
              <a:gs pos="0">
                <a:srgbClr val="156082"/>
              </a:gs>
              <a:gs pos="100000">
                <a:srgbClr val="E97132"/>
              </a:gs>
            </a:gsLst>
            <a:lin ang="27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5" name="Content Placeholder 3" descr="A graph of a number of word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80" y="299511"/>
            <a:ext cx="5044552" cy="625898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7"/>
          <p:cNvSpPr txBox="1">
            <a:spLocks noGrp="1"/>
          </p:cNvSpPr>
          <p:nvPr>
            <p:ph idx="1"/>
          </p:nvPr>
        </p:nvSpPr>
        <p:spPr>
          <a:xfrm>
            <a:off x="6800410" y="2130771"/>
            <a:ext cx="4359595" cy="3710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Using "</a:t>
            </a:r>
            <a:r>
              <a:rPr lang="en-US" dirty="0" err="1">
                <a:solidFill>
                  <a:schemeClr val="bg1"/>
                </a:solidFill>
              </a:rPr>
              <a:t>spaCy</a:t>
            </a:r>
            <a:r>
              <a:rPr lang="en-US" dirty="0">
                <a:solidFill>
                  <a:schemeClr val="bg1"/>
                </a:solidFill>
              </a:rPr>
              <a:t>" Python module we measured Adverb Use Rates in each book and compared them.</a:t>
            </a:r>
          </a:p>
        </p:txBody>
      </p:sp>
      <p:cxnSp>
        <p:nvCxnSpPr>
          <p:cNvPr id="7" name="Straight Connector 14"/>
          <p:cNvCxnSpPr>
            <a:cxnSpLocks noMove="1" noResize="1"/>
          </p:cNvCxnSpPr>
          <p:nvPr/>
        </p:nvCxnSpPr>
        <p:spPr>
          <a:xfrm>
            <a:off x="11586161" y="3610389"/>
            <a:ext cx="0" cy="3238732"/>
          </a:xfrm>
          <a:prstGeom prst="straightConnector1">
            <a:avLst/>
          </a:prstGeom>
          <a:noFill/>
          <a:ln w="25402" cap="sq">
            <a:solidFill>
              <a:srgbClr val="156082"/>
            </a:solidFill>
            <a:prstDash val="solid"/>
            <a:bevel/>
          </a:ln>
        </p:spPr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FC6FB4E-A88A-FFE4-7AB4-87959B61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668" y="300735"/>
            <a:ext cx="5567966" cy="1411417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Stylistic Fingerprint: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Adverb Use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6616008" y="115281"/>
            <a:ext cx="4406069" cy="1362086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Pacing &amp; Emotion: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Exclamation Rate</a:t>
            </a:r>
          </a:p>
        </p:txBody>
      </p:sp>
      <p:sp>
        <p:nvSpPr>
          <p:cNvPr id="4" name="Rectangle 12"/>
          <p:cNvSpPr>
            <a:spLocks noMove="1" noResize="1"/>
          </p:cNvSpPr>
          <p:nvPr/>
        </p:nvSpPr>
        <p:spPr>
          <a:xfrm>
            <a:off x="0" y="0"/>
            <a:ext cx="5779913" cy="6858000"/>
          </a:xfrm>
          <a:prstGeom prst="rect">
            <a:avLst/>
          </a:prstGeom>
          <a:gradFill>
            <a:gsLst>
              <a:gs pos="0">
                <a:srgbClr val="156082"/>
              </a:gs>
              <a:gs pos="100000">
                <a:srgbClr val="E97132"/>
              </a:gs>
            </a:gsLst>
            <a:lin ang="27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5" name="Content Placeholder 3" descr="A graph of a number of word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7" y="299511"/>
            <a:ext cx="4702018" cy="625898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7"/>
          <p:cNvSpPr txBox="1">
            <a:spLocks noGrp="1"/>
          </p:cNvSpPr>
          <p:nvPr>
            <p:ph idx="1"/>
          </p:nvPr>
        </p:nvSpPr>
        <p:spPr>
          <a:xfrm>
            <a:off x="6392579" y="2205898"/>
            <a:ext cx="4853284" cy="3710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We researched the amount of emotional sentences in both books and if the tone shifts from the first book to third.</a:t>
            </a:r>
          </a:p>
        </p:txBody>
      </p:sp>
      <p:cxnSp>
        <p:nvCxnSpPr>
          <p:cNvPr id="7" name="Straight Connector 14"/>
          <p:cNvCxnSpPr>
            <a:cxnSpLocks noMove="1" noResize="1"/>
          </p:cNvCxnSpPr>
          <p:nvPr/>
        </p:nvCxnSpPr>
        <p:spPr>
          <a:xfrm>
            <a:off x="11586161" y="3610389"/>
            <a:ext cx="0" cy="3238732"/>
          </a:xfrm>
          <a:prstGeom prst="straightConnector1">
            <a:avLst/>
          </a:prstGeom>
          <a:noFill/>
          <a:ln w="25402" cap="sq">
            <a:solidFill>
              <a:srgbClr val="156082"/>
            </a:solidFill>
            <a:prstDash val="solid"/>
            <a:bevel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6798458" y="297733"/>
            <a:ext cx="4395337" cy="1415748"/>
          </a:xfrm>
        </p:spPr>
        <p:txBody>
          <a:bodyPr anchor="b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Character Gender: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Use of Pronouns</a:t>
            </a:r>
            <a:endParaRPr lang="en-US"/>
          </a:p>
        </p:txBody>
      </p:sp>
      <p:sp>
        <p:nvSpPr>
          <p:cNvPr id="4" name="Rectangle 21"/>
          <p:cNvSpPr>
            <a:spLocks noMove="1" noResize="1"/>
          </p:cNvSpPr>
          <p:nvPr/>
        </p:nvSpPr>
        <p:spPr>
          <a:xfrm>
            <a:off x="0" y="0"/>
            <a:ext cx="5779913" cy="6858000"/>
          </a:xfrm>
          <a:prstGeom prst="rect">
            <a:avLst/>
          </a:prstGeom>
          <a:gradFill>
            <a:gsLst>
              <a:gs pos="0">
                <a:srgbClr val="156082"/>
              </a:gs>
              <a:gs pos="100000">
                <a:srgbClr val="E97132"/>
              </a:gs>
            </a:gsLst>
            <a:lin ang="27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3" y="299511"/>
            <a:ext cx="5199516" cy="625898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7"/>
          <p:cNvSpPr txBox="1">
            <a:spLocks noGrp="1"/>
          </p:cNvSpPr>
          <p:nvPr>
            <p:ph idx="1"/>
          </p:nvPr>
        </p:nvSpPr>
        <p:spPr>
          <a:xfrm>
            <a:off x="6628692" y="2034179"/>
            <a:ext cx="4735228" cy="371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Considering the time, when the trilogy was written we decided to research name and pronoun use in these books to see which characters are more frequent, male or female.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7" name="Straight Connector 23"/>
          <p:cNvCxnSpPr>
            <a:cxnSpLocks noMove="1" noResize="1"/>
          </p:cNvCxnSpPr>
          <p:nvPr/>
        </p:nvCxnSpPr>
        <p:spPr>
          <a:xfrm>
            <a:off x="11586161" y="3610389"/>
            <a:ext cx="0" cy="3238732"/>
          </a:xfrm>
          <a:prstGeom prst="straightConnector1">
            <a:avLst/>
          </a:prstGeom>
          <a:noFill/>
          <a:ln w="25402" cap="sq">
            <a:solidFill>
              <a:srgbClr val="156082"/>
            </a:solidFill>
            <a:prstDash val="solid"/>
            <a:bevel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72794" y="493918"/>
            <a:ext cx="4623516" cy="13470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Change of Color and Mood Throughout the Trilogy</a:t>
            </a:r>
            <a:endParaRPr lang="en-US"/>
          </a:p>
        </p:txBody>
      </p:sp>
      <p:pic>
        <p:nvPicPr>
          <p:cNvPr id="3" name="Content Placeholder 3" descr="A graph of different color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8710" y="726955"/>
            <a:ext cx="7125252" cy="54114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963DE2-D84E-D078-0810-B9976A5D8C0F}"/>
              </a:ext>
            </a:extLst>
          </p:cNvPr>
          <p:cNvSpPr txBox="1"/>
          <p:nvPr/>
        </p:nvSpPr>
        <p:spPr>
          <a:xfrm>
            <a:off x="410513" y="2630385"/>
            <a:ext cx="414914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dirty="0">
                <a:ea typeface="Calibri"/>
                <a:cs typeface="Calibri"/>
              </a:rPr>
              <a:t>We decided to look at the tone shift from the first book to the third. How does the mood change and which colors appear more in which 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3038344" y="118282"/>
            <a:ext cx="6115318" cy="118603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Own research task: 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sz="4000" dirty="0">
                <a:solidFill>
                  <a:schemeClr val="tx1"/>
                </a:solidFill>
              </a:rPr>
              <a:t> Character &amp; Pronoun Focus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00" y="1985736"/>
            <a:ext cx="7810629" cy="41405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8AB469-48CF-356A-0926-DCB66631D9D2}"/>
              </a:ext>
            </a:extLst>
          </p:cNvPr>
          <p:cNvSpPr txBox="1"/>
          <p:nvPr/>
        </p:nvSpPr>
        <p:spPr>
          <a:xfrm>
            <a:off x="7941497" y="2494651"/>
            <a:ext cx="4235002" cy="2277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We compared the how the author addresses the characters in both books, comparing the </a:t>
            </a:r>
            <a:r>
              <a:rPr lang="en-US" sz="2800">
                <a:ea typeface="Calibri"/>
                <a:cs typeface="Calibri"/>
              </a:rPr>
              <a:t>number</a:t>
            </a:r>
            <a:r>
              <a:rPr lang="en-US" sz="2800" dirty="0">
                <a:ea typeface="Calibri"/>
                <a:cs typeface="Calibri"/>
              </a:rPr>
              <a:t> of pronouns to the names.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Move="1" noResize="1"/>
          </p:cNvSpPr>
          <p:nvPr/>
        </p:nvSpPr>
        <p:spPr>
          <a:xfrm>
            <a:off x="3044" y="0"/>
            <a:ext cx="12188952" cy="6858000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Freeform: Shape 9"/>
          <p:cNvSpPr>
            <a:spLocks noMove="1" noResize="1"/>
          </p:cNvSpPr>
          <p:nvPr/>
        </p:nvSpPr>
        <p:spPr>
          <a:xfrm>
            <a:off x="0" y="0"/>
            <a:ext cx="4167268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167271"/>
              <a:gd name="f7" fmla="val 6858000"/>
              <a:gd name="f8" fmla="val 2259550"/>
              <a:gd name="f9" fmla="val 2387803"/>
              <a:gd name="f10" fmla="val 82222"/>
              <a:gd name="f11" fmla="val 3461407"/>
              <a:gd name="f12" fmla="val 807534"/>
              <a:gd name="f13" fmla="val 2035835"/>
              <a:gd name="f14" fmla="val 3429000"/>
              <a:gd name="f15" fmla="val 4822165"/>
              <a:gd name="f16" fmla="val 6050467"/>
              <a:gd name="f17" fmla="val 6775779"/>
              <a:gd name="f18" fmla="+- 0 0 -90"/>
              <a:gd name="f19" fmla="*/ f3 1 4167271"/>
              <a:gd name="f20" fmla="*/ f4 1 6858000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4167271"/>
              <a:gd name="f29" fmla="*/ f25 1 6858000"/>
              <a:gd name="f30" fmla="*/ 0 f26 1"/>
              <a:gd name="f31" fmla="*/ 0 f25 1"/>
              <a:gd name="f32" fmla="*/ 2259550 f26 1"/>
              <a:gd name="f33" fmla="*/ 2387803 f26 1"/>
              <a:gd name="f34" fmla="*/ 82222 f25 1"/>
              <a:gd name="f35" fmla="*/ 4167271 f26 1"/>
              <a:gd name="f36" fmla="*/ 3429000 f25 1"/>
              <a:gd name="f37" fmla="*/ 6775779 f25 1"/>
              <a:gd name="f38" fmla="*/ 6858000 f25 1"/>
              <a:gd name="f39" fmla="+- f27 0 f1"/>
              <a:gd name="f40" fmla="*/ f30 1 4167271"/>
              <a:gd name="f41" fmla="*/ f31 1 6858000"/>
              <a:gd name="f42" fmla="*/ f32 1 4167271"/>
              <a:gd name="f43" fmla="*/ f33 1 4167271"/>
              <a:gd name="f44" fmla="*/ f34 1 6858000"/>
              <a:gd name="f45" fmla="*/ f35 1 4167271"/>
              <a:gd name="f46" fmla="*/ f36 1 6858000"/>
              <a:gd name="f47" fmla="*/ f37 1 6858000"/>
              <a:gd name="f48" fmla="*/ f38 1 6858000"/>
              <a:gd name="f49" fmla="*/ f21 1 f28"/>
              <a:gd name="f50" fmla="*/ f22 1 f28"/>
              <a:gd name="f51" fmla="*/ f21 1 f29"/>
              <a:gd name="f52" fmla="*/ f23 1 f29"/>
              <a:gd name="f53" fmla="*/ f40 1 f28"/>
              <a:gd name="f54" fmla="*/ f41 1 f29"/>
              <a:gd name="f55" fmla="*/ f42 1 f28"/>
              <a:gd name="f56" fmla="*/ f43 1 f28"/>
              <a:gd name="f57" fmla="*/ f44 1 f29"/>
              <a:gd name="f58" fmla="*/ f45 1 f28"/>
              <a:gd name="f59" fmla="*/ f46 1 f29"/>
              <a:gd name="f60" fmla="*/ f47 1 f29"/>
              <a:gd name="f61" fmla="*/ f48 1 f29"/>
              <a:gd name="f62" fmla="*/ f49 f19 1"/>
              <a:gd name="f63" fmla="*/ f50 f19 1"/>
              <a:gd name="f64" fmla="*/ f52 f20 1"/>
              <a:gd name="f65" fmla="*/ f51 f20 1"/>
              <a:gd name="f66" fmla="*/ f53 f19 1"/>
              <a:gd name="f67" fmla="*/ f54 f20 1"/>
              <a:gd name="f68" fmla="*/ f55 f19 1"/>
              <a:gd name="f69" fmla="*/ f56 f19 1"/>
              <a:gd name="f70" fmla="*/ f57 f20 1"/>
              <a:gd name="f71" fmla="*/ f58 f19 1"/>
              <a:gd name="f72" fmla="*/ f59 f20 1"/>
              <a:gd name="f73" fmla="*/ f60 f20 1"/>
              <a:gd name="f74" fmla="*/ f61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9">
                <a:pos x="f66" y="f67"/>
              </a:cxn>
              <a:cxn ang="f39">
                <a:pos x="f68" y="f67"/>
              </a:cxn>
              <a:cxn ang="f39">
                <a:pos x="f69" y="f70"/>
              </a:cxn>
              <a:cxn ang="f39">
                <a:pos x="f71" y="f72"/>
              </a:cxn>
              <a:cxn ang="f39">
                <a:pos x="f69" y="f73"/>
              </a:cxn>
              <a:cxn ang="f39">
                <a:pos x="f68" y="f74"/>
              </a:cxn>
              <a:cxn ang="f39">
                <a:pos x="f66" y="f74"/>
              </a:cxn>
            </a:cxnLst>
            <a:rect l="f62" t="f65" r="f63" b="f64"/>
            <a:pathLst>
              <a:path w="4167271" h="6858000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cubicBezTo>
                  <a:pt x="f11" y="f12"/>
                  <a:pt x="f6" y="f13"/>
                  <a:pt x="f6" y="f14"/>
                </a:cubicBezTo>
                <a:cubicBezTo>
                  <a:pt x="f6" y="f15"/>
                  <a:pt x="f11" y="f16"/>
                  <a:pt x="f9" y="f17"/>
                </a:cubicBezTo>
                <a:lnTo>
                  <a:pt x="f8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E9713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686833" y="1153570"/>
            <a:ext cx="3200400" cy="4461165"/>
          </a:xfrm>
        </p:spPr>
        <p:txBody>
          <a:bodyPr/>
          <a:lstStyle/>
          <a:p>
            <a:pPr lvl="0"/>
            <a:r>
              <a:rPr lang="en-GB">
                <a:solidFill>
                  <a:srgbClr val="FFFFFF"/>
                </a:solidFill>
              </a:rPr>
              <a:t>Thank you for your attention </a:t>
            </a:r>
          </a:p>
        </p:txBody>
      </p:sp>
      <p:sp>
        <p:nvSpPr>
          <p:cNvPr id="5" name="Arc 11"/>
          <p:cNvSpPr>
            <a:spLocks noMove="1" noResize="1"/>
          </p:cNvSpPr>
          <p:nvPr/>
        </p:nvSpPr>
        <p:spPr>
          <a:xfrm flipV="1">
            <a:off x="7550401" y="2455474"/>
            <a:ext cx="4083436" cy="4083436"/>
          </a:xfrm>
          <a:custGeom>
            <a:avLst>
              <a:gd name="f12" fmla="val 180"/>
              <a:gd name="f13" fmla="val 270"/>
            </a:avLst>
            <a:gdLst>
              <a:gd name="f2" fmla="val 10800000"/>
              <a:gd name="f3" fmla="val 5400000"/>
              <a:gd name="f4" fmla="val 16200000"/>
              <a:gd name="f5" fmla="val 180"/>
              <a:gd name="f6" fmla="val w"/>
              <a:gd name="f7" fmla="val h"/>
              <a:gd name="f8" fmla="val ss"/>
              <a:gd name="f9" fmla="val 0"/>
              <a:gd name="f10" fmla="*/ 5419351 1 1725033"/>
              <a:gd name="f11" fmla="+- 0 0 1"/>
              <a:gd name="f12" fmla="val 180"/>
              <a:gd name="f13" fmla="val 270"/>
              <a:gd name="f14" fmla="+- 0 0 -270"/>
              <a:gd name="f15" fmla="+- 0 0 -225"/>
              <a:gd name="f16" fmla="+- 0 0 -180"/>
              <a:gd name="f17" fmla="abs f6"/>
              <a:gd name="f18" fmla="abs f7"/>
              <a:gd name="f19" fmla="abs f8"/>
              <a:gd name="f20" fmla="val f9"/>
              <a:gd name="f21" fmla="+- 0 0 f12"/>
              <a:gd name="f22" fmla="+- 0 0 f13"/>
              <a:gd name="f23" fmla="*/ f14 f2 1"/>
              <a:gd name="f24" fmla="*/ f15 f2 1"/>
              <a:gd name="f25" fmla="*/ f16 f2 1"/>
              <a:gd name="f26" fmla="?: f17 f6 1"/>
              <a:gd name="f27" fmla="?: f18 f7 1"/>
              <a:gd name="f28" fmla="?: f19 f8 1"/>
              <a:gd name="f29" fmla="*/ f21 f2 1"/>
              <a:gd name="f30" fmla="*/ f22 f2 1"/>
              <a:gd name="f31" fmla="*/ f23 1 f5"/>
              <a:gd name="f32" fmla="*/ f24 1 f5"/>
              <a:gd name="f33" fmla="*/ f25 1 f5"/>
              <a:gd name="f34" fmla="*/ f26 1 21600"/>
              <a:gd name="f35" fmla="*/ f27 1 21600"/>
              <a:gd name="f36" fmla="*/ 21600 f26 1"/>
              <a:gd name="f37" fmla="*/ 21600 f27 1"/>
              <a:gd name="f38" fmla="*/ f29 1 f5"/>
              <a:gd name="f39" fmla="*/ f30 1 f5"/>
              <a:gd name="f40" fmla="+- f31 0 f3"/>
              <a:gd name="f41" fmla="+- f32 0 f3"/>
              <a:gd name="f42" fmla="+- f33 0 f3"/>
              <a:gd name="f43" fmla="min f35 f34"/>
              <a:gd name="f44" fmla="*/ f36 1 f28"/>
              <a:gd name="f45" fmla="*/ f37 1 f28"/>
              <a:gd name="f46" fmla="+- f38 0 f3"/>
              <a:gd name="f47" fmla="+- f39 0 f3"/>
              <a:gd name="f48" fmla="val f44"/>
              <a:gd name="f49" fmla="val f45"/>
              <a:gd name="f50" fmla="+- 0 0 f46"/>
              <a:gd name="f51" fmla="+- 0 0 f47"/>
              <a:gd name="f52" fmla="+- f49 0 f20"/>
              <a:gd name="f53" fmla="+- f48 0 f20"/>
              <a:gd name="f54" fmla="val f50"/>
              <a:gd name="f55" fmla="val f51"/>
              <a:gd name="f56" fmla="*/ f52 1 2"/>
              <a:gd name="f57" fmla="*/ f53 1 2"/>
              <a:gd name="f58" fmla="+- f55 0 f54"/>
              <a:gd name="f59" fmla="+- f54 f3 0"/>
              <a:gd name="f60" fmla="+- f55 f3 0"/>
              <a:gd name="f61" fmla="+- 21600000 0 f54"/>
              <a:gd name="f62" fmla="+- f3 0 f54"/>
              <a:gd name="f63" fmla="+- 27000000 0 f54"/>
              <a:gd name="f64" fmla="+- f2 0 f54"/>
              <a:gd name="f65" fmla="+- 32400000 0 f54"/>
              <a:gd name="f66" fmla="+- f4 0 f54"/>
              <a:gd name="f67" fmla="+- 37800000 0 f54"/>
              <a:gd name="f68" fmla="+- f20 f56 0"/>
              <a:gd name="f69" fmla="+- f20 f57 0"/>
              <a:gd name="f70" fmla="+- f58 21600000 0"/>
              <a:gd name="f71" fmla="*/ f59 f10 1"/>
              <a:gd name="f72" fmla="*/ f60 f10 1"/>
              <a:gd name="f73" fmla="?: f62 f62 f63"/>
              <a:gd name="f74" fmla="?: f64 f64 f65"/>
              <a:gd name="f75" fmla="?: f66 f66 f67"/>
              <a:gd name="f76" fmla="*/ f57 f43 1"/>
              <a:gd name="f77" fmla="*/ f56 f43 1"/>
              <a:gd name="f78" fmla="?: f58 f58 f70"/>
              <a:gd name="f79" fmla="*/ f71 1 f2"/>
              <a:gd name="f80" fmla="*/ f72 1 f2"/>
              <a:gd name="f81" fmla="*/ f69 f43 1"/>
              <a:gd name="f82" fmla="*/ f68 f43 1"/>
              <a:gd name="f83" fmla="+- 0 0 f79"/>
              <a:gd name="f84" fmla="+- 0 0 f80"/>
              <a:gd name="f85" fmla="+- f78 0 f61"/>
              <a:gd name="f86" fmla="+- f78 0 f73"/>
              <a:gd name="f87" fmla="+- f78 0 f74"/>
              <a:gd name="f88" fmla="+- f78 0 f75"/>
              <a:gd name="f89" fmla="+- 0 0 f83"/>
              <a:gd name="f90" fmla="+- 0 0 f84"/>
              <a:gd name="f91" fmla="*/ f89 f2 1"/>
              <a:gd name="f92" fmla="*/ f90 f2 1"/>
              <a:gd name="f93" fmla="*/ f91 1 f10"/>
              <a:gd name="f94" fmla="*/ f92 1 f10"/>
              <a:gd name="f95" fmla="+- f93 0 f3"/>
              <a:gd name="f96" fmla="+- f94 0 f3"/>
              <a:gd name="f97" fmla="sin 1 f95"/>
              <a:gd name="f98" fmla="cos 1 f95"/>
              <a:gd name="f99" fmla="sin 1 f96"/>
              <a:gd name="f100" fmla="cos 1 f96"/>
              <a:gd name="f101" fmla="+- 0 0 f97"/>
              <a:gd name="f102" fmla="+- 0 0 f98"/>
              <a:gd name="f103" fmla="+- 0 0 f99"/>
              <a:gd name="f104" fmla="+- 0 0 f100"/>
              <a:gd name="f105" fmla="+- 0 0 f101"/>
              <a:gd name="f106" fmla="+- 0 0 f102"/>
              <a:gd name="f107" fmla="+- 0 0 f103"/>
              <a:gd name="f108" fmla="+- 0 0 f104"/>
              <a:gd name="f109" fmla="*/ f105 f57 1"/>
              <a:gd name="f110" fmla="*/ f106 f56 1"/>
              <a:gd name="f111" fmla="*/ f107 f57 1"/>
              <a:gd name="f112" fmla="*/ f108 f56 1"/>
              <a:gd name="f113" fmla="+- 0 0 f110"/>
              <a:gd name="f114" fmla="+- 0 0 f109"/>
              <a:gd name="f115" fmla="+- 0 0 f112"/>
              <a:gd name="f116" fmla="+- 0 0 f111"/>
              <a:gd name="f117" fmla="+- 0 0 f113"/>
              <a:gd name="f118" fmla="+- 0 0 f114"/>
              <a:gd name="f119" fmla="+- 0 0 f115"/>
              <a:gd name="f120" fmla="+- 0 0 f116"/>
              <a:gd name="f121" fmla="at2 f117 f118"/>
              <a:gd name="f122" fmla="at2 f119 f120"/>
              <a:gd name="f123" fmla="+- f121 f3 0"/>
              <a:gd name="f124" fmla="+- f122 f3 0"/>
              <a:gd name="f125" fmla="*/ f123 f10 1"/>
              <a:gd name="f126" fmla="*/ f124 f10 1"/>
              <a:gd name="f127" fmla="*/ f125 1 f2"/>
              <a:gd name="f128" fmla="*/ f126 1 f2"/>
              <a:gd name="f129" fmla="+- 0 0 f127"/>
              <a:gd name="f130" fmla="+- 0 0 f128"/>
              <a:gd name="f131" fmla="val f129"/>
              <a:gd name="f132" fmla="val f130"/>
              <a:gd name="f133" fmla="+- 0 0 f131"/>
              <a:gd name="f134" fmla="+- 0 0 f132"/>
              <a:gd name="f135" fmla="*/ f133 f2 1"/>
              <a:gd name="f136" fmla="*/ f134 f2 1"/>
              <a:gd name="f137" fmla="*/ f135 1 f10"/>
              <a:gd name="f138" fmla="*/ f136 1 f10"/>
              <a:gd name="f139" fmla="+- f137 0 f3"/>
              <a:gd name="f140" fmla="+- f138 0 f3"/>
              <a:gd name="f141" fmla="cos 1 f139"/>
              <a:gd name="f142" fmla="sin 1 f139"/>
              <a:gd name="f143" fmla="cos 1 f140"/>
              <a:gd name="f144" fmla="sin 1 f140"/>
              <a:gd name="f145" fmla="+- 0 0 f141"/>
              <a:gd name="f146" fmla="+- 0 0 f142"/>
              <a:gd name="f147" fmla="+- 0 0 f143"/>
              <a:gd name="f148" fmla="+- 0 0 f144"/>
              <a:gd name="f149" fmla="*/ f11 f145 1"/>
              <a:gd name="f150" fmla="*/ f11 f146 1"/>
              <a:gd name="f151" fmla="*/ f11 f147 1"/>
              <a:gd name="f152" fmla="*/ f11 f148 1"/>
              <a:gd name="f153" fmla="*/ f149 f57 1"/>
              <a:gd name="f154" fmla="*/ f150 f56 1"/>
              <a:gd name="f155" fmla="*/ f151 f57 1"/>
              <a:gd name="f156" fmla="*/ f152 f56 1"/>
              <a:gd name="f157" fmla="+- f69 f153 0"/>
              <a:gd name="f158" fmla="+- f68 f154 0"/>
              <a:gd name="f159" fmla="+- f69 f155 0"/>
              <a:gd name="f160" fmla="+- f68 f156 0"/>
              <a:gd name="f161" fmla="max f157 f159"/>
              <a:gd name="f162" fmla="max f158 f160"/>
              <a:gd name="f163" fmla="min f157 f159"/>
              <a:gd name="f164" fmla="min f158 f160"/>
              <a:gd name="f165" fmla="*/ f157 f43 1"/>
              <a:gd name="f166" fmla="*/ f158 f43 1"/>
              <a:gd name="f167" fmla="*/ f159 f43 1"/>
              <a:gd name="f168" fmla="*/ f160 f43 1"/>
              <a:gd name="f169" fmla="?: f85 f48 f161"/>
              <a:gd name="f170" fmla="?: f86 f49 f162"/>
              <a:gd name="f171" fmla="?: f87 f20 f163"/>
              <a:gd name="f172" fmla="?: f88 f20 f164"/>
              <a:gd name="f173" fmla="*/ f171 f43 1"/>
              <a:gd name="f174" fmla="*/ f172 f43 1"/>
              <a:gd name="f175" fmla="*/ f169 f43 1"/>
              <a:gd name="f176" fmla="*/ f170 f4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0">
                <a:pos x="f165" y="f166"/>
              </a:cxn>
              <a:cxn ang="f41">
                <a:pos x="f81" y="f82"/>
              </a:cxn>
              <a:cxn ang="f42">
                <a:pos x="f167" y="f168"/>
              </a:cxn>
            </a:cxnLst>
            <a:rect l="f173" t="f174" r="f175" b="f176"/>
            <a:pathLst>
              <a:path stroke="0">
                <a:moveTo>
                  <a:pt x="f165" y="f166"/>
                </a:moveTo>
                <a:arcTo wR="f76" hR="f77" stAng="f54" swAng="f78"/>
                <a:lnTo>
                  <a:pt x="f81" y="f82"/>
                </a:lnTo>
                <a:close/>
              </a:path>
              <a:path fill="none">
                <a:moveTo>
                  <a:pt x="f165" y="f166"/>
                </a:moveTo>
                <a:arcTo wR="f76" hR="f77" stAng="f54" swAng="f78"/>
              </a:path>
            </a:pathLst>
          </a:custGeom>
          <a:noFill/>
          <a:ln w="127001" cap="rnd">
            <a:solidFill>
              <a:srgbClr val="0F9ED5"/>
            </a:solidFill>
            <a:custDash>
              <a:ds d="300000" sp="3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Content Placeholder 2"/>
          <p:cNvSpPr txBox="1">
            <a:spLocks noGrp="1"/>
          </p:cNvSpPr>
          <p:nvPr>
            <p:ph idx="1"/>
          </p:nvPr>
        </p:nvSpPr>
        <p:spPr>
          <a:xfrm>
            <a:off x="4447312" y="591342"/>
            <a:ext cx="6906490" cy="5585621"/>
          </a:xfrm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0</TotalTime>
  <Words>40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Natural Language Processing  Week 1</vt:lpstr>
      <vt:lpstr>Stylistic Fingerprint: Adverb Use</vt:lpstr>
      <vt:lpstr>Pacing &amp; Emotion: Exclamation Rate</vt:lpstr>
      <vt:lpstr>Character Gender: Use of Pronouns</vt:lpstr>
      <vt:lpstr>Change of Color and Mood Throughout the Trilogy</vt:lpstr>
      <vt:lpstr>Own research task:   Character &amp; Pronoun Focus</vt:lpstr>
      <vt:lpstr>Thank you for your attention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</dc:title>
  <dc:creator/>
  <cp:lastModifiedBy>word</cp:lastModifiedBy>
  <cp:revision>205</cp:revision>
  <dcterms:created xsi:type="dcterms:W3CDTF">2025-11-06T23:28:44Z</dcterms:created>
  <dcterms:modified xsi:type="dcterms:W3CDTF">2025-11-07T08:19:46Z</dcterms:modified>
</cp:coreProperties>
</file>